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F2A"/>
                </a:solidFill>
              </a:defRPr>
            </a:pPr>
            <a:r>
              <a:t>从单机权限到 AI 模型与知识保护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25C6C"/>
                </a:solidFill>
              </a:defRPr>
            </a:pPr>
            <a:r>
              <a:t>安全边界正在从“保护入口”迁移到“治理智能体行为”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65960"/>
            <a:ext cx="1920240" cy="438912"/>
          </a:xfrm>
          <a:prstGeom prst="round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单机权限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965960"/>
            <a:ext cx="1920240" cy="438912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网络边界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28032" y="1965960"/>
            <a:ext cx="1920240" cy="438912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云身份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12864" y="1965960"/>
            <a:ext cx="1920240" cy="438912"/>
          </a:xfrm>
          <a:prstGeom prst="round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Agent 身份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97696" y="1965960"/>
            <a:ext cx="2468880" cy="438912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模型与知识保护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7180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81F2A"/>
                </a:solidFill>
              </a:defRPr>
            </a:pPr>
            <a:r>
              <a:t>计算形态变化，会推动安全边界重新定义。</a:t>
            </a:r>
          </a:p>
          <a:p>
            <a:pPr>
              <a:spcAft>
                <a:spcPts val="800"/>
              </a:spcAft>
              <a:defRPr sz="2200">
                <a:solidFill>
                  <a:srgbClr val="181F2A"/>
                </a:solidFill>
              </a:defRPr>
            </a:pPr>
            <a:r>
              <a:t>AI Agent 不只是对话入口，而是能携带知识、调用工具、执行任务的新主体。</a:t>
            </a:r>
          </a:p>
          <a:p>
            <a:pPr>
              <a:spcAft>
                <a:spcPts val="800"/>
              </a:spcAft>
              <a:defRPr sz="2200">
                <a:solidFill>
                  <a:srgbClr val="181F2A"/>
                </a:solidFill>
              </a:defRPr>
            </a:pPr>
            <a:r>
              <a:t>当下的核心问题：谁能携带什么知识，以什么身份，替谁执行什么动作。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C6C"/>
                </a:solidFill>
              </a:defRPr>
            </a:pPr>
            <a:r>
              <a:t>XWorkmate App 场景测试用例 · AI 安全演进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F2A"/>
                </a:solidFill>
              </a:defRPr>
            </a:pPr>
            <a:r>
              <a:t>安全演进对照表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25C6C"/>
                </a:solidFill>
              </a:defRPr>
            </a:pPr>
            <a:r>
              <a:t>左侧是路径，右侧是当下需要落到架构里的判断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08760"/>
          <a:ext cx="109728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554355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演进路径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当下判断</a:t>
                      </a:r>
                    </a:p>
                  </a:txBody>
                  <a:tcPr>
                    <a:solidFill>
                      <a:srgbClr val="181F2A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1F2A"/>
                          </a:solidFill>
                        </a:defRPr>
                      </a:pPr>
                      <a:r>
                        <a:t>单机权限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25C6C"/>
                          </a:solidFill>
                        </a:defRPr>
                      </a:pPr>
                      <a:r>
                        <a:t>终端只是入口，风险进入身份、数据和任务链路。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1F2A"/>
                          </a:solidFill>
                        </a:defRPr>
                      </a:pPr>
                      <a:r>
                        <a:t>网络边界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25C6C"/>
                          </a:solidFill>
                        </a:defRPr>
                      </a:pPr>
                      <a:r>
                        <a:t>边界变成 API、设备、身份、供应链和运行时组合面。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1F2A"/>
                          </a:solidFill>
                        </a:defRPr>
                      </a:pPr>
                      <a:r>
                        <a:t>Web 安全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25C6C"/>
                          </a:solidFill>
                        </a:defRPr>
                      </a:pPr>
                      <a:r>
                        <a:t>从页面漏洞扩展到业务流、插件和自动化调用。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1F2A"/>
                          </a:solidFill>
                        </a:defRPr>
                      </a:pPr>
                      <a:r>
                        <a:t>云身份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25C6C"/>
                          </a:solidFill>
                        </a:defRPr>
                      </a:pPr>
                      <a:r>
                        <a:t>IAM 成为控制平面，权限漂移和密钥暴露高发。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1F2A"/>
                          </a:solidFill>
                        </a:defRPr>
                      </a:pPr>
                      <a:r>
                        <a:t>Zero Trust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25C6C"/>
                          </a:solidFill>
                        </a:defRPr>
                      </a:pPr>
                      <a:r>
                        <a:t>持续验证、最小权限、上下文授权进入执行层。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1F2A"/>
                          </a:solidFill>
                        </a:defRPr>
                      </a:pPr>
                      <a:r>
                        <a:t>AI Agent 身份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25C6C"/>
                          </a:solidFill>
                        </a:defRPr>
                      </a:pPr>
                      <a:r>
                        <a:t>Agent 要有独立身份、授权边界、审计链和撤销能力。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81F2A"/>
                          </a:solidFill>
                        </a:defRPr>
                      </a:pPr>
                      <a:r>
                        <a:t>AI 模型与知识保护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25C6C"/>
                          </a:solidFill>
                        </a:defRPr>
                      </a:pPr>
                      <a:r>
                        <a:t>模型、提示词、RAG、工具记录和语料成为资产边界。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C6C"/>
                </a:solidFill>
              </a:defRPr>
            </a:pPr>
            <a:r>
              <a:t>XWorkmate App 场景测试用例 · AI 安全演进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F2A"/>
                </a:solidFill>
              </a:defRPr>
            </a:pPr>
            <a:r>
              <a:t>主战场从入口迁移到行动链路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25C6C"/>
                </a:solidFill>
              </a:defRPr>
            </a:pPr>
            <a:r>
              <a:t>Agent 时代的安全问题变成连续链路治理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240280" cy="502920"/>
          </a:xfrm>
          <a:prstGeom prst="round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身份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1F2A"/>
                </a:solidFill>
              </a:defRPr>
            </a:pPr>
            <a:r>
              <a:t>人、应用、Agent、工具必须可区分。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240280" cy="50292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606040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1F2A"/>
                </a:solidFill>
              </a:defRPr>
            </a:pPr>
            <a:r>
              <a:t>RAG、文件、提示词按权限进入上下文。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2240280" cy="50292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606040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1F2A"/>
                </a:solidFill>
              </a:defRPr>
            </a:pPr>
            <a:r>
              <a:t>调用前授权，调用中约束，调用后审计。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59" y="1828800"/>
            <a:ext cx="2240280" cy="502920"/>
          </a:xfrm>
          <a:prstGeom prst="roundRect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产物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59" y="2606040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1F2A"/>
                </a:solidFill>
              </a:defRPr>
            </a:pPr>
            <a:r>
              <a:t>结果文件、日志、执行记录归属当前任务。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720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81F2A"/>
                </a:solidFill>
              </a:defRPr>
            </a:pPr>
            <a:r>
              <a:t>结论：安全不只判断“能不能访问”，还要判断“能不能代表用户完成这一步动作”。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C6C"/>
                </a:solidFill>
              </a:defRPr>
            </a:pPr>
            <a:r>
              <a:t>XWorkmate App 场景测试用例 · AI 安全演进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F2A"/>
                </a:solidFill>
              </a:defRPr>
            </a:pPr>
            <a:r>
              <a:t>AI Agent 身份：不能复用管理员 token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25C6C"/>
                </a:solidFill>
              </a:defRPr>
            </a:pPr>
            <a:r>
              <a:t>Agent 是任务执行主体，需要独立身份与可撤销授权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81F2A"/>
                </a:solidFill>
              </a:defRPr>
            </a:pPr>
            <a:r>
              <a:t>Agent 代表哪个用户或组织？</a:t>
            </a:r>
          </a:p>
          <a:p>
            <a:pPr>
              <a:spcAft>
                <a:spcPts val="800"/>
              </a:spcAft>
              <a:defRPr sz="2000">
                <a:solidFill>
                  <a:srgbClr val="181F2A"/>
                </a:solidFill>
              </a:defRPr>
            </a:pPr>
            <a:r>
              <a:t>Agent 能访问哪些文件、知识库和项目？</a:t>
            </a:r>
          </a:p>
          <a:p>
            <a:pPr>
              <a:spcAft>
                <a:spcPts val="800"/>
              </a:spcAft>
              <a:defRPr sz="2000">
                <a:solidFill>
                  <a:srgbClr val="181F2A"/>
                </a:solidFill>
              </a:defRPr>
            </a:pPr>
            <a:r>
              <a:t>Agent 能调用哪些工具，参数范围是什么？</a:t>
            </a:r>
          </a:p>
          <a:p>
            <a:pPr>
              <a:spcAft>
                <a:spcPts val="800"/>
              </a:spcAft>
              <a:defRPr sz="2000">
                <a:solidFill>
                  <a:srgbClr val="181F2A"/>
                </a:solidFill>
              </a:defRPr>
            </a:pPr>
            <a:r>
              <a:t>Agent 的动作如何审计到人、任务、工具、结果？</a:t>
            </a:r>
          </a:p>
          <a:p>
            <a:pPr>
              <a:spcAft>
                <a:spcPts val="800"/>
              </a:spcAft>
              <a:defRPr sz="2000">
                <a:solidFill>
                  <a:srgbClr val="181F2A"/>
                </a:solidFill>
              </a:defRPr>
            </a:pPr>
            <a:r>
              <a:t>授权如何过期、撤销和复盘？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7373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设计原则</a:t>
            </a:r>
          </a:p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独立主体身份</a:t>
            </a:r>
          </a:p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最小权限授权</a:t>
            </a:r>
          </a:p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按任务绑定上下文</a:t>
            </a:r>
          </a:p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全过程审计</a:t>
            </a:r>
          </a:p>
          <a:p>
            <a:pPr>
              <a:spcAft>
                <a:spcPts val="800"/>
              </a:spcAft>
              <a:defRPr sz="1800">
                <a:solidFill>
                  <a:srgbClr val="181F2A"/>
                </a:solidFill>
              </a:defRPr>
            </a:pPr>
            <a:r>
              <a:t>失败可重试，风险可止损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C6C"/>
                </a:solidFill>
              </a:defRPr>
            </a:pPr>
            <a:r>
              <a:t>XWorkmate App 场景测试用例 · AI 安全演进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F2A"/>
                </a:solidFill>
              </a:defRPr>
            </a:pPr>
            <a:r>
              <a:t>模型与知识保护：新资产边界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25C6C"/>
                </a:solidFill>
              </a:defRPr>
            </a:pPr>
            <a:r>
              <a:t>企业知识不只在数据库里，也在提示词、RAG、工具记录和上下文里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81F2A"/>
                </a:solidFill>
              </a:defRPr>
            </a:pPr>
            <a:r>
              <a:t>提示词与系统指令：定义 Agent 行为边界，不能被随意覆盖或泄露。</a:t>
            </a:r>
          </a:p>
          <a:p>
            <a:pPr>
              <a:spcAft>
                <a:spcPts val="800"/>
              </a:spcAft>
              <a:defRPr sz="1900">
                <a:solidFill>
                  <a:srgbClr val="181F2A"/>
                </a:solidFill>
              </a:defRPr>
            </a:pPr>
            <a:r>
              <a:t>RAG 知识库：必须按组织、项目、用户和任务做权限过滤。</a:t>
            </a:r>
          </a:p>
          <a:p>
            <a:pPr>
              <a:spcAft>
                <a:spcPts val="800"/>
              </a:spcAft>
              <a:defRPr sz="1900">
                <a:solidFill>
                  <a:srgbClr val="181F2A"/>
                </a:solidFill>
              </a:defRPr>
            </a:pPr>
            <a:r>
              <a:t>工具调用记录：包含业务动作、参数、外部系统响应和潜在敏感数据。</a:t>
            </a:r>
          </a:p>
          <a:p>
            <a:pPr>
              <a:spcAft>
                <a:spcPts val="800"/>
              </a:spcAft>
              <a:defRPr sz="1900">
                <a:solidFill>
                  <a:srgbClr val="181F2A"/>
                </a:solidFill>
              </a:defRPr>
            </a:pPr>
            <a:r>
              <a:t>用户上传文件：必须用户驱动访问，不能被 Agent 隐式读取和转发。</a:t>
            </a:r>
          </a:p>
          <a:p>
            <a:pPr>
              <a:spcAft>
                <a:spcPts val="800"/>
              </a:spcAft>
              <a:defRPr sz="1900">
                <a:solidFill>
                  <a:srgbClr val="181F2A"/>
                </a:solidFill>
              </a:defRPr>
            </a:pPr>
            <a:r>
              <a:t>业务语料：进入上下文就意味着进入执行链路，需要审计和保留策略。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C6C"/>
                </a:solidFill>
              </a:defRPr>
            </a:pPr>
            <a:r>
              <a:t>XWorkmate App 场景测试用例 · AI 安全演进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F2A"/>
                </a:solidFill>
              </a:defRPr>
            </a:pPr>
            <a:r>
              <a:t>落地行动清单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25C6C"/>
                </a:solidFill>
              </a:defRPr>
            </a:pPr>
            <a:r>
              <a:t>把 AI 安全从提示词治理推进到运行时治理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070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81F2A"/>
                </a:solidFill>
              </a:defRPr>
            </a:pPr>
            <a:r>
              <a:t>建立 Agent 身份模型：人、应用、Agent、工具、服务账号分开审计。</a:t>
            </a:r>
          </a:p>
          <a:p>
            <a:pPr>
              <a:spcAft>
                <a:spcPts val="800"/>
              </a:spcAft>
              <a:defRPr sz="2000">
                <a:solidFill>
                  <a:srgbClr val="181F2A"/>
                </a:solidFill>
              </a:defRPr>
            </a:pPr>
            <a:r>
              <a:t>建立知识访问控制：RAG 和文件上下文按任务授权，不做全局默认读取。</a:t>
            </a:r>
          </a:p>
          <a:p>
            <a:pPr>
              <a:spcAft>
                <a:spcPts val="800"/>
              </a:spcAft>
              <a:defRPr sz="2000">
                <a:solidFill>
                  <a:srgbClr val="181F2A"/>
                </a:solidFill>
              </a:defRPr>
            </a:pPr>
            <a:r>
              <a:t>建立工具调用边界：高风险动作增加审批、参数约束和结果确认。</a:t>
            </a:r>
          </a:p>
          <a:p>
            <a:pPr>
              <a:spcAft>
                <a:spcPts val="800"/>
              </a:spcAft>
              <a:defRPr sz="2000">
                <a:solidFill>
                  <a:srgbClr val="181F2A"/>
                </a:solidFill>
              </a:defRPr>
            </a:pPr>
            <a:r>
              <a:t>建立运行时审计链：记录用户意图、Agent 计划、工具调用、产物路径。</a:t>
            </a:r>
          </a:p>
          <a:p>
            <a:pPr>
              <a:spcAft>
                <a:spcPts val="800"/>
              </a:spcAft>
              <a:defRPr sz="2000">
                <a:solidFill>
                  <a:srgbClr val="181F2A"/>
                </a:solidFill>
              </a:defRPr>
            </a:pPr>
            <a:r>
              <a:t>建立撤销与复盘机制：权限可过期，任务可停止，产物可追溯。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C6C"/>
                </a:solidFill>
              </a:defRPr>
            </a:pPr>
            <a:r>
              <a:t>XWorkmate App 场景测试用例 · AI 安全演进 ·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